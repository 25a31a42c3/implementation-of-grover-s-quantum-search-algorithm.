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3/7/2026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Sit Dolor Amet</a:t>
            </a: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2">
            <a:extLst>
              <a:ext uri="{FF2B5EF4-FFF2-40B4-BE49-F238E27FC236}">
                <a16:creationId xmlns:a16="http://schemas.microsoft.com/office/drawing/2014/main" id="{91E42A1D-EB87-31D4-EE57-8C8A560CC35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4906995" y="467052"/>
            <a:ext cx="7607339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Title: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Quantum Machine Learning for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Pattern Recognition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Subtitle: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Leveraging Quantum  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Advantage for Next-Generation Data 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Presented by: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[Your Name/Organization]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Date: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March 2026</a:t>
            </a:r>
          </a:p>
        </p:txBody>
      </p: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F818E-CFF1-3197-8614-B167BD8E8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 – Why QML?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C8D75D2-8980-0774-D27D-67D4B32E0A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4807" y="2442985"/>
            <a:ext cx="11546238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Bottleneck: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Classical ML faces "The Curse of Dimensionality" as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datasets grow exponentially.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Solution: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QML combines the predictive power of ML with the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computational speed of quantum mechanics.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Value: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Ability to process high-dimensional data in "Hilbert Space“,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finding</a:t>
            </a:r>
            <a:r>
              <a:rPr lang="en-US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patterns invisible to classical computers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51835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C0CD6-FCC0-D6B2-74A8-456AEE1F4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Fundamental Quantum Concepts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DF827B9-68C0-3854-77C3-8599BE6B2A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180459"/>
            <a:ext cx="10335330" cy="3616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Qubits vs. Bits: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Classical: 0 or 1.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Quantum: Superposition of         and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Entanglement: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Linking qubits so the state of one instantly influences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another, regardless of distance.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Interference: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Manipulating probability amplitudes to amplify the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"correct" pattern and cancel out noise.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122F47-2566-AF32-BF61-01E0C495E2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3789" y="3363685"/>
            <a:ext cx="370357" cy="3703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C17B1F0-F85B-3485-44FD-266BE9F8D2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0284" y="3305002"/>
            <a:ext cx="563116" cy="429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304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CF3D9-9579-3A25-39CA-A196E1517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Pattern Recognition Workflow in QML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CB64A-3A0D-E773-9DE9-1213DE66D4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b="1" dirty="0"/>
              <a:t>Data Encoding:</a:t>
            </a:r>
            <a:r>
              <a:rPr lang="en-IN" sz="2000" dirty="0"/>
              <a:t> Converting classical data (pixels/features) into quantum states</a:t>
            </a:r>
          </a:p>
          <a:p>
            <a:r>
              <a:rPr lang="en-IN" sz="2000" dirty="0"/>
              <a:t> (Amplitude or Angle encoding).</a:t>
            </a:r>
          </a:p>
          <a:p>
            <a:r>
              <a:rPr lang="en-IN" sz="2000" b="1" dirty="0"/>
              <a:t>Quantum Circuit:</a:t>
            </a:r>
            <a:r>
              <a:rPr lang="en-IN" sz="2000" dirty="0"/>
              <a:t> Applying quantum gates (Hadamard, CNOT) to process the data.</a:t>
            </a:r>
          </a:p>
          <a:p>
            <a:r>
              <a:rPr lang="en-IN" sz="2000" b="1" dirty="0"/>
              <a:t>Measurement:</a:t>
            </a:r>
            <a:r>
              <a:rPr lang="en-IN" sz="2000" dirty="0"/>
              <a:t> Collapsing the quantum state to get a classical output (classification/label).</a:t>
            </a:r>
          </a:p>
          <a:p>
            <a:r>
              <a:rPr lang="en-IN" sz="2000" b="1" dirty="0"/>
              <a:t>Classical Optimization:</a:t>
            </a:r>
            <a:r>
              <a:rPr lang="en-IN" sz="2000" dirty="0"/>
              <a:t> Using a classical optimizer to tune the quantum circuit parameters (Hybrid Approach).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7922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84F4E-3E8F-08B8-9305-57DB92BBF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Core QML Algorithms for Pattern Recognition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7AD7369-8FAB-4302-FEA5-7326A8F755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079" y="1934826"/>
            <a:ext cx="10278601" cy="4326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324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33D75-16DD-0C4B-8708-8A10390F6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Quantum Advantage: Feature Mapping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B0620CA-1607-67F2-C808-740B591CE5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22838" y="2142728"/>
            <a:ext cx="12024446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linear vs. non-linear: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some patterns are messy and inseparable in 2d or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"quantum trick":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qml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maps data into a massive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hilbert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space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where non-linear patterns become linearly separable.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efficiency: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quantum kernels can handle feature spaces that are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exponentially larger than those handled by classical kernels.</a:t>
            </a:r>
          </a:p>
        </p:txBody>
      </p:sp>
    </p:spTree>
    <p:extLst>
      <p:ext uri="{BB962C8B-B14F-4D97-AF65-F5344CB8AC3E}">
        <p14:creationId xmlns:p14="http://schemas.microsoft.com/office/powerpoint/2010/main" val="3236341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DFDD9-05E2-BD02-C23B-3B5A71BDC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Practical Applications (Industry Use-Cases)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92D710C-1215-8252-ABDD-E5B30950FC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24199" y="1987865"/>
            <a:ext cx="10804561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Biomedical Imaging: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Identifying early-stage cancer cells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in high-res MRI scans.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Finance: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Fraud detection through anomaly recognition 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32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millions of simultaneous transactions.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Cybersecurity: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Detecting sophisticated malware patterns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3200" dirty="0">
                <a:solidFill>
                  <a:schemeClr val="tx1"/>
                </a:solidFill>
                <a:latin typeface="Arial" panose="020B0604020202020204" pitchFamily="34" charset="0"/>
              </a:rPr>
              <a:t> 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encrypted traffic.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Particle Physics: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Analyzing billions of collisions (e.g., at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3200" dirty="0">
                <a:solidFill>
                  <a:schemeClr val="tx1"/>
                </a:solidFill>
                <a:latin typeface="Arial" panose="020B0604020202020204" pitchFamily="34" charset="0"/>
              </a:rPr>
              <a:t>  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CERN) to identify rare subatomic particles.</a:t>
            </a:r>
          </a:p>
        </p:txBody>
      </p:sp>
    </p:spTree>
    <p:extLst>
      <p:ext uri="{BB962C8B-B14F-4D97-AF65-F5344CB8AC3E}">
        <p14:creationId xmlns:p14="http://schemas.microsoft.com/office/powerpoint/2010/main" val="4181002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170A7-20E9-A34A-D6FF-8D56E9C8D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&amp; Frameworks (The 2026 Landscape)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BFA1836-0DCB-F933-88FF-8A8BB07C00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401" y="2112671"/>
            <a:ext cx="10837197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IBM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Qiskit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Machine Learning: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industry standard for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3200" dirty="0">
                <a:solidFill>
                  <a:schemeClr val="tx1"/>
                </a:solidFill>
                <a:latin typeface="Arial" panose="020B0604020202020204" pitchFamily="34" charset="0"/>
              </a:rPr>
              <a:t>   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circuit-based QML.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PennyLane (Xanadu):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Best for differentiable quantum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3200" dirty="0">
                <a:solidFill>
                  <a:schemeClr val="tx1"/>
                </a:solidFill>
                <a:latin typeface="Arial" panose="020B0604020202020204" pitchFamily="34" charset="0"/>
              </a:rPr>
              <a:t>  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programming and hybrid models.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TensorFlow Quantum (Google):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Integrating quantum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3200" dirty="0">
                <a:solidFill>
                  <a:schemeClr val="tx1"/>
                </a:solidFill>
                <a:latin typeface="Arial" panose="020B0604020202020204" pitchFamily="34" charset="0"/>
              </a:rPr>
              <a:t>  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layers into standard AI workflows.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Amazon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Braket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Cloud access to diverse quantum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3200" dirty="0">
                <a:solidFill>
                  <a:schemeClr val="tx1"/>
                </a:solidFill>
                <a:latin typeface="Arial" panose="020B0604020202020204" pitchFamily="34" charset="0"/>
              </a:rPr>
              <a:t>   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hardware (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IonQ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Rigetti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077790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4953A-27DD-18E6-EE66-500188E32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Current Challenges (The Reality Check)</a:t>
            </a:r>
            <a:endParaRPr lang="en-IN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3037070-DEF7-9090-192E-0ABCCBADEF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3173" y="1954050"/>
            <a:ext cx="11046614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Noise (Decoherence):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Quantum states are fragile;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3200" dirty="0">
                <a:solidFill>
                  <a:schemeClr val="tx1"/>
                </a:solidFill>
                <a:latin typeface="Arial" panose="020B0604020202020204" pitchFamily="34" charset="0"/>
              </a:rPr>
              <a:t>  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errors accumulate quickly in deep circuits.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Loading: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"QRAM" bottleneck—it’s still hard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3200" dirty="0">
                <a:solidFill>
                  <a:schemeClr val="tx1"/>
                </a:solidFill>
                <a:latin typeface="Arial" panose="020B0604020202020204" pitchFamily="34" charset="0"/>
              </a:rPr>
              <a:t> 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load massive classical datasets into quantum states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3200" dirty="0">
                <a:solidFill>
                  <a:schemeClr val="tx1"/>
                </a:solidFill>
                <a:latin typeface="Arial" panose="020B0604020202020204" pitchFamily="34" charset="0"/>
              </a:rPr>
              <a:t> 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efficiently.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Hardware Scale: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 are in the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NISQ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(Noisy Intermediate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3200" dirty="0">
                <a:solidFill>
                  <a:schemeClr val="tx1"/>
                </a:solidFill>
                <a:latin typeface="Arial" panose="020B0604020202020204" pitchFamily="34" charset="0"/>
              </a:rPr>
              <a:t>  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-Scale Quantum) era; full fault-tolerance is still 5–10 years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3200" dirty="0">
                <a:solidFill>
                  <a:schemeClr val="tx1"/>
                </a:solidFill>
                <a:latin typeface="Arial" panose="020B0604020202020204" pitchFamily="34" charset="0"/>
              </a:rPr>
              <a:t> 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away.</a:t>
            </a:r>
          </a:p>
        </p:txBody>
      </p:sp>
    </p:spTree>
    <p:extLst>
      <p:ext uri="{BB962C8B-B14F-4D97-AF65-F5344CB8AC3E}">
        <p14:creationId xmlns:p14="http://schemas.microsoft.com/office/powerpoint/2010/main" val="6918615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EE5F1-40DE-96AB-5CE7-5AB5632EF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 &amp; Future Outlook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6B8BF32-5289-CFF7-81EA-ACC7528976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-175342" y="2208951"/>
            <a:ext cx="12603643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Hybrid is King: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immediate future belongs to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Quantum-Classical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Hybrids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where quantum handles the "heavy lifting" of high-dimensional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math.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Scalability: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 qubit counts reach 1,000+, QML will move from "toy datasets“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solving real-world global challenges.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 Thought: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QML isn't just about faster math; it's about seeing patterns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 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 didn't know existed.</a:t>
            </a:r>
          </a:p>
        </p:txBody>
      </p:sp>
    </p:spTree>
    <p:extLst>
      <p:ext uri="{BB962C8B-B14F-4D97-AF65-F5344CB8AC3E}">
        <p14:creationId xmlns:p14="http://schemas.microsoft.com/office/powerpoint/2010/main" val="153649968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{DEA5A553-9A15-4856-A3AB-353E14CB2D0E}tf56160789_win32</Template>
  <TotalTime>26</TotalTime>
  <Words>578</Words>
  <Application>Microsoft Office PowerPoint</Application>
  <PresentationFormat>Widescreen</PresentationFormat>
  <Paragraphs>74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Bookman Old Style</vt:lpstr>
      <vt:lpstr>Calibri</vt:lpstr>
      <vt:lpstr>Franklin Gothic Book</vt:lpstr>
      <vt:lpstr>Google Sans Text</vt:lpstr>
      <vt:lpstr>Custom</vt:lpstr>
      <vt:lpstr>Title: Quantum Machine Learning for    Pattern Recognition Subtitle: Leveraging Quantum      Advantage for Next-Generation Data     Analysis Presented by: [Your Name/Organization]  Date: March 2026</vt:lpstr>
      <vt:lpstr>Introduction – Why QML?</vt:lpstr>
      <vt:lpstr>Fundamental Quantum Concepts</vt:lpstr>
      <vt:lpstr>Pattern Recognition Workflow in QML</vt:lpstr>
      <vt:lpstr>Core QML Algorithms for Pattern Recognition</vt:lpstr>
      <vt:lpstr>Quantum Advantage: Feature Mapping</vt:lpstr>
      <vt:lpstr>Practical Applications (Industry Use-Cases)</vt:lpstr>
      <vt:lpstr>Tools &amp; Frameworks (The 2026 Landscape)</vt:lpstr>
      <vt:lpstr>Current Challenges (The Reality Check)</vt:lpstr>
      <vt:lpstr>Conclusion &amp; Future Outlook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karunakarrowdy01@outlook.com</dc:creator>
  <cp:lastModifiedBy>karunakarrowdy01@outlook.com</cp:lastModifiedBy>
  <cp:revision>1</cp:revision>
  <dcterms:created xsi:type="dcterms:W3CDTF">2026-03-07T04:52:46Z</dcterms:created>
  <dcterms:modified xsi:type="dcterms:W3CDTF">2026-03-07T05:19:32Z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